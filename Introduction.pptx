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90" d="100"/>
          <a:sy n="90" d="100"/>
        </p:scale>
        <p:origin x="75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E408D4-45F0-9AC3-FE68-A239565CF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8035A4-1084-7522-FB72-E9F8A5641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AD95B7-62E6-5294-B910-A548DBCCB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C80-4B1B-4C7E-9526-FAA812CE0687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80746F-01A4-6150-FF41-90A2659AE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2D6E4D-759F-3BA7-3C5D-320ECE623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211F-EBC6-4F38-B833-D9A55FB76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088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D6269-30E4-650B-D84E-BA7B4014C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F3AF2E-9A43-B2D8-8D88-BFC0FE78A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571FCF-B1D8-078B-A225-A86353DFF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C80-4B1B-4C7E-9526-FAA812CE0687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7E851F-64C9-254C-3114-4AAC7D4BB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23E333-9F27-DD77-076B-DE17B93F3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211F-EBC6-4F38-B833-D9A55FB76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192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F72575-97D5-4D3E-6E97-FFA041D47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DE3067-6B4B-0230-27AB-51B089808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2A40A7-F983-8F57-5D0F-814D7141C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C80-4B1B-4C7E-9526-FAA812CE0687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9EFEF6-DB35-DD15-AC03-B3ADD5B5C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BF8758-6809-7999-451B-1F1EF5CDD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211F-EBC6-4F38-B833-D9A55FB76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005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EB035-F2AA-0A6E-D1CB-4E25A8D1A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010F78-FA5F-87E6-519D-0BF9065A8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73ACFD-7716-942E-BB25-A8CDD9895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113A20-C723-4AA8-13BD-357688027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C80-4B1B-4C7E-9526-FAA812CE0687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BEEAC9-C904-41B2-D635-A4B4F174F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AD6CF1-59AA-FB8F-5983-5A2810B29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211F-EBC6-4F38-B833-D9A55FB76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115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5E7FC-C7ED-35AA-325C-39E101E9D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5370CD-AF80-B390-AEE0-03984741B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BD910C-4E7B-CBCD-B97E-413157FF9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1F62CD-727D-CCD9-7007-B3A2B3D1F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5DA91B-3437-5E76-7C44-D558CCE967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4F0B395-F5D8-92B4-7BA0-B37D3F7DB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C80-4B1B-4C7E-9526-FAA812CE0687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523C382-35DA-5FB8-EC71-135F5E3C4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32EAC7-4509-E471-7787-784CE8C6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211F-EBC6-4F38-B833-D9A55FB76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79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D1B14-DF7B-78DD-3B78-F77977D4B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1D90D9-51FC-C874-C470-E74D930F0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C80-4B1B-4C7E-9526-FAA812CE0687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3AAA6E-15EA-D331-E2CE-1A19EB2D3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5F4706-E7DA-2E3B-066C-F3BC711B8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211F-EBC6-4F38-B833-D9A55FB76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12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E0E39F-2212-D9DE-0059-6A05A099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C80-4B1B-4C7E-9526-FAA812CE0687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2B44F3-8586-210C-C158-5862F171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3072A0-D731-3B4F-F20D-66D8780AF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211F-EBC6-4F38-B833-D9A55FB76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610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C7C8D3-20D6-920D-CD62-6D18357E5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8A5D8C-DD47-69E1-0EE0-15E893572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AE4160-C43A-DF51-BD9A-0899E0D54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09669C-BA27-F86D-5BAC-2C183187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C80-4B1B-4C7E-9526-FAA812CE0687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B62DE1-1D49-DF96-4369-642CC5C2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D3D112-6341-DA31-B63A-BFD815A7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211F-EBC6-4F38-B833-D9A55FB76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492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8FF24D-073F-BE7E-6A0B-690EFCC0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1EE809A-A529-72F9-B8EB-E83FB72EB3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A950BE-D299-2097-E7B7-04D24A56A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299F3F-3B7C-F04C-010D-FA05F65DF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C80-4B1B-4C7E-9526-FAA812CE0687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F88A45-EC3B-BD45-E581-DA15E7ED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32A150-D52F-E1CF-AEDB-B422F73D3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211F-EBC6-4F38-B833-D9A55FB76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4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C929D-28C1-0DFC-4E56-F8D6ED73E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27EB93-A1C5-E518-E078-B0B7D1A0F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3C0764-C044-A272-080A-262A535FD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C80-4B1B-4C7E-9526-FAA812CE0687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C2B372-03BF-2C67-A892-7968FD4B3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BC4344-1BF3-A3E2-445F-52CA2F10D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211F-EBC6-4F38-B833-D9A55FB76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23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B05A802-3DB8-CC1D-458C-4ED6356BF1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C43E05-BCCA-3EFA-DAB8-A1C1D4011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16838C-A91A-FA7C-E311-9D48D026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6DC80-4B1B-4C7E-9526-FAA812CE0687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0D4324-0654-1348-75DB-E53718BB0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F83303-FF3B-C3B3-DF4E-5120C8DB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B211F-EBC6-4F38-B833-D9A55FB76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613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3DF7B2-A38B-9E71-CCA9-F41409147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4B184D-114D-FC0B-4EFB-B2C8FB783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634CE2-1826-9395-6BF1-702F876DE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6DC80-4B1B-4C7E-9526-FAA812CE0687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46A78C-C172-A525-51FE-19650F082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9A2880-1332-CBF4-F225-18D4EA369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B211F-EBC6-4F38-B833-D9A55FB76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836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rihuruitao/A2" TargetMode="External"/><Relationship Id="rId2" Type="http://schemas.openxmlformats.org/officeDocument/2006/relationships/hyperlink" Target="https://yurihrta2.streamlit.app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text.org/xiyouji/zhs" TargetMode="External"/><Relationship Id="rId2" Type="http://schemas.openxmlformats.org/officeDocument/2006/relationships/hyperlink" Target="https://aclanthology.org/2021.emnlp-main.45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392A60B-104C-09E0-E962-7D94DE5CD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8B4781C-083D-9908-6EEC-ABD805F5C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hlinkClick r:id="rId2"/>
              </a:rPr>
              <a:t>稱呼分析結果 </a:t>
            </a:r>
            <a:r>
              <a:rPr lang="en-US" altLang="zh-TW" dirty="0">
                <a:hlinkClick r:id="rId2"/>
              </a:rPr>
              <a:t>- </a:t>
            </a:r>
            <a:r>
              <a:rPr lang="zh-TW" altLang="en-US" dirty="0">
                <a:hlinkClick r:id="rId2"/>
              </a:rPr>
              <a:t>地圖與圖表 </a:t>
            </a:r>
            <a:r>
              <a:rPr lang="en-US" altLang="zh-TW" dirty="0">
                <a:hlinkClick r:id="rId2"/>
              </a:rPr>
              <a:t>· </a:t>
            </a:r>
            <a:r>
              <a:rPr lang="en-US" altLang="zh-TW" dirty="0" err="1">
                <a:hlinkClick r:id="rId2"/>
              </a:rPr>
              <a:t>Streamlit</a:t>
            </a:r>
            <a:endParaRPr lang="en-US" altLang="zh-TW" dirty="0"/>
          </a:p>
          <a:p>
            <a:endParaRPr lang="en-US" altLang="zh-CN" dirty="0"/>
          </a:p>
          <a:p>
            <a:r>
              <a:rPr lang="en-GB" altLang="zh-CN" dirty="0" err="1">
                <a:hlinkClick r:id="rId3"/>
              </a:rPr>
              <a:t>yurihuruitao</a:t>
            </a:r>
            <a:r>
              <a:rPr lang="en-GB" altLang="zh-CN" dirty="0">
                <a:hlinkClick r:id="rId3"/>
              </a:rPr>
              <a:t>/A2</a:t>
            </a:r>
            <a:endParaRPr lang="en-GB" altLang="zh-CN" dirty="0"/>
          </a:p>
          <a:p>
            <a:endParaRPr lang="en-GB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7CED13C-0C85-6E9C-EBF3-0477114F8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115" y="2909959"/>
            <a:ext cx="5827534" cy="319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41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DA17B8-183E-FD39-5F80-212DD5145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C7906A-BDB9-85E2-357B-C8D9100AF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How are the five cities referred to in </a:t>
            </a:r>
            <a:r>
              <a:rPr lang="en-US" altLang="zh-CN" i="1" dirty="0"/>
              <a:t>The Scholars</a:t>
            </a:r>
            <a:r>
              <a:rPr lang="en-US" altLang="zh-CN" dirty="0"/>
              <a:t>? And what is the frequency count for these terms?"</a:t>
            </a:r>
          </a:p>
          <a:p>
            <a:r>
              <a:rPr lang="en-US" altLang="zh-CN" dirty="0"/>
              <a:t>How do changes in address term frequency across chapters relate to changes in the people appearing with them?</a:t>
            </a:r>
          </a:p>
          <a:p>
            <a:endParaRPr lang="en-US" altLang="zh-CN" dirty="0"/>
          </a:p>
          <a:p>
            <a:r>
              <a:rPr lang="en-US" altLang="zh-CN" dirty="0"/>
              <a:t>Cities:</a:t>
            </a:r>
            <a:r>
              <a:rPr lang="zh-TW" altLang="en-US" dirty="0"/>
              <a:t>南京、蘇州、杭州、北京、揚州</a:t>
            </a:r>
            <a:endParaRPr lang="en-US" altLang="zh-TW" dirty="0"/>
          </a:p>
          <a:p>
            <a:r>
              <a:rPr lang="en-US" altLang="zh-CN" dirty="0"/>
              <a:t>Chapters:30-50 from </a:t>
            </a:r>
            <a:r>
              <a:rPr lang="en-US" altLang="zh-CN" dirty="0" err="1"/>
              <a:t>Ctexts</a:t>
            </a:r>
            <a:endParaRPr lang="en-US" altLang="zh-CN" dirty="0"/>
          </a:p>
          <a:p>
            <a:r>
              <a:rPr lang="en-US" altLang="zh-CN" dirty="0"/>
              <a:t>Download from the computer in </a:t>
            </a:r>
            <a:r>
              <a:rPr lang="en-US" altLang="zh-CN" dirty="0" err="1"/>
              <a:t>Polyu</a:t>
            </a:r>
            <a:r>
              <a:rPr lang="en-US" altLang="zh-CN" dirty="0"/>
              <a:t> and split according to the chapters. 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3324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A2A40-2A2E-E49F-5D4E-1E51E6BF1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A4E373-C821-01DD-1299-7EAC87628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282" y="1825625"/>
            <a:ext cx="4482196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1. Identify the terms</a:t>
            </a:r>
          </a:p>
          <a:p>
            <a:r>
              <a:rPr lang="en-US" altLang="zh-CN" dirty="0"/>
              <a:t>Qwen-max is used to close reading of </a:t>
            </a:r>
            <a:r>
              <a:rPr lang="en-US" altLang="zh-CN" i="1" dirty="0"/>
              <a:t>The Scholars </a:t>
            </a:r>
            <a:r>
              <a:rPr lang="en-US" altLang="zh-CN" dirty="0"/>
              <a:t>for extracting the terms related to the cities.</a:t>
            </a:r>
          </a:p>
          <a:p>
            <a:endParaRPr lang="en-US" altLang="zh-CN" dirty="0"/>
          </a:p>
          <a:p>
            <a:r>
              <a:rPr lang="en-US" altLang="zh-CN" dirty="0"/>
              <a:t>Qwen-max cannot identify those terms very accurately, so I double-check the results.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5E77DF-9C99-D387-57EF-CFAACE1B0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478" y="1690688"/>
            <a:ext cx="7414521" cy="18302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0CE7381-FDBE-A85B-3FBB-FB0397A56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478" y="3822616"/>
            <a:ext cx="6095997" cy="115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18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431E6-7E57-A5A1-86F8-FCCB84CA8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A985CC-248C-DD82-4BD0-E2B9CD44B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61943" cy="4351338"/>
          </a:xfrm>
        </p:spPr>
        <p:txBody>
          <a:bodyPr/>
          <a:lstStyle/>
          <a:p>
            <a:r>
              <a:rPr lang="en-US" altLang="zh-CN" dirty="0"/>
              <a:t>2. Extract the names of people</a:t>
            </a:r>
          </a:p>
          <a:p>
            <a:endParaRPr lang="en-US" altLang="zh-CN" dirty="0"/>
          </a:p>
          <a:p>
            <a:r>
              <a:rPr lang="en-US" altLang="zh-CN" dirty="0" err="1"/>
              <a:t>Hanlp</a:t>
            </a:r>
            <a:r>
              <a:rPr lang="en-US" altLang="zh-CN" dirty="0"/>
              <a:t> tokenizer is used to segment the texts into words.</a:t>
            </a:r>
          </a:p>
          <a:p>
            <a:r>
              <a:rPr lang="en-US" altLang="zh-CN" dirty="0" err="1"/>
              <a:t>Hanlp</a:t>
            </a:r>
            <a:r>
              <a:rPr lang="en-US" altLang="zh-CN" dirty="0"/>
              <a:t> NER is used to extract the names of people. 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F28811-450D-E04E-343D-AE6C355B2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142" y="1483628"/>
            <a:ext cx="4241658" cy="370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025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BAAE13-C060-F9BE-F569-7C37874A2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Methodology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C8122C-D619-B559-2137-27E5DAD79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17758" cy="4351338"/>
          </a:xfrm>
        </p:spPr>
        <p:txBody>
          <a:bodyPr/>
          <a:lstStyle/>
          <a:p>
            <a:r>
              <a:rPr lang="en-US" altLang="zh-CN" dirty="0"/>
              <a:t>3. Find the correlation between cities’ terms, chapters and people</a:t>
            </a:r>
          </a:p>
          <a:p>
            <a:endParaRPr lang="en-US" altLang="zh-CN" dirty="0"/>
          </a:p>
          <a:p>
            <a:r>
              <a:rPr lang="en-US" altLang="zh-CN" dirty="0"/>
              <a:t> Just search the terms in the unsegmented texts. Find people appear in the same paragraph. Get the frequency tables. 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5F0EB2-7112-CB38-3B87-B56C859B3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958" y="1690688"/>
            <a:ext cx="5052680" cy="287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052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41388-7540-0FFB-2525-6276610F6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Methodolgy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788501-71FF-4FB9-B900-2D78E4558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5419" cy="4351338"/>
          </a:xfrm>
        </p:spPr>
        <p:txBody>
          <a:bodyPr/>
          <a:lstStyle/>
          <a:p>
            <a:r>
              <a:rPr lang="en-US" altLang="zh-CN" dirty="0"/>
              <a:t>4. Demonstrate the result</a:t>
            </a:r>
          </a:p>
          <a:p>
            <a:endParaRPr lang="en-US" altLang="zh-CN" dirty="0"/>
          </a:p>
          <a:p>
            <a:r>
              <a:rPr lang="en-US" altLang="zh-CN" dirty="0"/>
              <a:t>Using </a:t>
            </a:r>
            <a:r>
              <a:rPr lang="en-US" altLang="zh-CN" dirty="0" err="1"/>
              <a:t>Streamlit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D910A0-F727-6A54-1DFE-C9FCF8030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751" y="1825625"/>
            <a:ext cx="5957851" cy="332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296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31786-C15B-B7E3-720D-4FCD4DAF2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0A50E3-1FB8-311B-BA75-0DBF8A43E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89440" cy="4351338"/>
          </a:xfrm>
        </p:spPr>
        <p:txBody>
          <a:bodyPr/>
          <a:lstStyle/>
          <a:p>
            <a:r>
              <a:rPr lang="en-US" altLang="zh-CN" dirty="0"/>
              <a:t>Nanjing is the most popular city in </a:t>
            </a:r>
            <a:r>
              <a:rPr lang="en-US" altLang="zh-CN" i="1" dirty="0"/>
              <a:t>The Scholars. </a:t>
            </a:r>
            <a:r>
              <a:rPr lang="en-US" altLang="zh-CN" dirty="0"/>
              <a:t>It appears 285 times in chapter30-50. It has the most related terms. </a:t>
            </a:r>
          </a:p>
          <a:p>
            <a:endParaRPr lang="en-US" altLang="zh-CN" i="1" dirty="0"/>
          </a:p>
          <a:p>
            <a:r>
              <a:rPr lang="en-US" altLang="zh-CN" dirty="0"/>
              <a:t>In the five cities, Hangzhou is the most unpopular. Only 4 times and it is referred using </a:t>
            </a:r>
            <a:r>
              <a:rPr lang="zh-CN" altLang="en-US" dirty="0"/>
              <a:t>西湖。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739A47-8460-492C-95CB-1D3067E0C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607" y="1519962"/>
            <a:ext cx="3719388" cy="28365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5C41D70-391F-010E-9923-928B043E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961" y="4549923"/>
            <a:ext cx="3242974" cy="162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20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6F336A-A1C5-B77E-A9FC-5867C0C7D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Results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A439E14-099B-E673-7AD6-590BA9B23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2085" y="950260"/>
            <a:ext cx="5911450" cy="19582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2758472-97DF-5B4C-13B3-FDB2FBBA4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692" y="3196070"/>
            <a:ext cx="2127150" cy="3035132"/>
          </a:xfrm>
          <a:prstGeom prst="rect">
            <a:avLst/>
          </a:prstGeom>
        </p:spPr>
      </p:pic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B06FD607-F124-7880-FCBF-E8DBB60C71E0}"/>
              </a:ext>
            </a:extLst>
          </p:cNvPr>
          <p:cNvSpPr txBox="1">
            <a:spLocks/>
          </p:cNvSpPr>
          <p:nvPr/>
        </p:nvSpPr>
        <p:spPr>
          <a:xfrm>
            <a:off x="552273" y="1556402"/>
            <a:ext cx="60894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杜少卿 </a:t>
            </a:r>
            <a:r>
              <a:rPr lang="en-US" altLang="zh-CN" dirty="0"/>
              <a:t>relates most to the five cities. He often comes with the southern cities. </a:t>
            </a:r>
            <a:br>
              <a:rPr lang="en-US" altLang="zh-CN" dirty="0"/>
            </a:br>
            <a:r>
              <a:rPr lang="en-US" altLang="zh-CN" dirty="0"/>
              <a:t>Chapter 41 has the most related terms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9EFFC59-E491-4513-E29B-0A4DAA3A8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15" y="4380447"/>
            <a:ext cx="5689915" cy="152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05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55CBD0-A257-51AA-D8F3-3D131AD24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Reflection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5E97A3-F7C6-645E-AFE0-A34EC49CF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南京 </a:t>
            </a:r>
            <a:r>
              <a:rPr lang="en-US" altLang="zh-CN" dirty="0"/>
              <a:t>often referred as </a:t>
            </a:r>
            <a:r>
              <a:rPr lang="zh-CN" altLang="en-US" dirty="0"/>
              <a:t>南京</a:t>
            </a:r>
            <a:endParaRPr lang="en-US" altLang="zh-CN" dirty="0"/>
          </a:p>
          <a:p>
            <a:r>
              <a:rPr lang="zh-CN" altLang="en-US" dirty="0"/>
              <a:t>北京 </a:t>
            </a:r>
            <a:r>
              <a:rPr lang="en-US" altLang="zh-CN" dirty="0"/>
              <a:t>often referred as </a:t>
            </a:r>
            <a:r>
              <a:rPr lang="zh-CN" altLang="en-US" dirty="0"/>
              <a:t>京师</a:t>
            </a:r>
            <a:endParaRPr lang="en-US" altLang="zh-CN" dirty="0"/>
          </a:p>
          <a:p>
            <a:r>
              <a:rPr lang="zh-CN" altLang="en-US" dirty="0"/>
              <a:t>扬州 </a:t>
            </a:r>
            <a:r>
              <a:rPr lang="en-US" altLang="zh-CN" dirty="0"/>
              <a:t>as </a:t>
            </a:r>
            <a:r>
              <a:rPr lang="zh-CN" altLang="en-US" dirty="0"/>
              <a:t>扬州</a:t>
            </a:r>
            <a:endParaRPr lang="en-US" altLang="zh-CN" dirty="0"/>
          </a:p>
          <a:p>
            <a:r>
              <a:rPr lang="zh-CN" altLang="en-US" dirty="0"/>
              <a:t>杭州 </a:t>
            </a:r>
            <a:r>
              <a:rPr lang="en-US" altLang="zh-CN" dirty="0"/>
              <a:t>as </a:t>
            </a:r>
            <a:r>
              <a:rPr lang="zh-CN" altLang="en-US" dirty="0"/>
              <a:t>西湖</a:t>
            </a:r>
            <a:endParaRPr lang="en-US" altLang="zh-CN" dirty="0"/>
          </a:p>
          <a:p>
            <a:r>
              <a:rPr lang="en-US" altLang="zh-CN" dirty="0"/>
              <a:t>Frequency count is in the </a:t>
            </a:r>
            <a:r>
              <a:rPr lang="en-US" altLang="zh-CN" dirty="0" err="1"/>
              <a:t>Streamlit</a:t>
            </a:r>
            <a:r>
              <a:rPr lang="en-US" altLang="zh-CN" dirty="0"/>
              <a:t> and CSV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1835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65C9F-5E29-B370-D22B-BBE702B38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Reflection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544D16-7C4B-C52F-7161-ED413B618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10457"/>
            <a:ext cx="2831511" cy="466505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dirty="0"/>
              <a:t>Terms used by </a:t>
            </a:r>
            <a:r>
              <a:rPr lang="zh-CN" altLang="en-US" dirty="0"/>
              <a:t>杜少卿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9FF80A-5F74-2240-3FB1-3613F059D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47131"/>
            <a:ext cx="3167426" cy="37938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A6F9499-2587-0406-F23B-0854D8CBA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219" y="2010467"/>
            <a:ext cx="3474934" cy="3315457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D5245C4-E905-C5F5-5D81-BCAFB84A222D}"/>
              </a:ext>
            </a:extLst>
          </p:cNvPr>
          <p:cNvSpPr txBox="1">
            <a:spLocks/>
          </p:cNvSpPr>
          <p:nvPr/>
        </p:nvSpPr>
        <p:spPr>
          <a:xfrm>
            <a:off x="5847214" y="5645703"/>
            <a:ext cx="2831511" cy="4665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Terms used by</a:t>
            </a:r>
            <a:r>
              <a:rPr lang="zh-CN" altLang="en-US" dirty="0"/>
              <a:t>沈瓊枝</a:t>
            </a:r>
          </a:p>
        </p:txBody>
      </p:sp>
    </p:spTree>
    <p:extLst>
      <p:ext uri="{BB962C8B-B14F-4D97-AF65-F5344CB8AC3E}">
        <p14:creationId xmlns:p14="http://schemas.microsoft.com/office/powerpoint/2010/main" val="3770760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150F4-1607-0464-FC54-6B0E1355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B311A0-83F6-9679-FAE3-DEF12AC60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He, H., &amp; Choi, J. D. (2021). The Stem Cell Hypothesis: Dilemma behind Multi-Task Learning with Transformer Encoders. </a:t>
            </a:r>
            <a:r>
              <a:rPr lang="en-US" altLang="zh-CN" i="1" dirty="0">
                <a:effectLst/>
              </a:rPr>
              <a:t>Proceedings of the 2021 Conference on Empirical Methods in Natural Language Processing</a:t>
            </a:r>
            <a:r>
              <a:rPr lang="en-US" altLang="zh-CN" dirty="0">
                <a:effectLst/>
              </a:rPr>
              <a:t>, 5555–5577. </a:t>
            </a:r>
            <a:r>
              <a:rPr lang="en-US" altLang="zh-CN" dirty="0">
                <a:effectLst/>
                <a:hlinkClick r:id="rId2"/>
              </a:rPr>
              <a:t>https://aclanthology.org/2021.emnlp-main.451</a:t>
            </a:r>
            <a:endParaRPr lang="en-US" altLang="zh-CN" dirty="0">
              <a:effectLst/>
            </a:endParaRPr>
          </a:p>
          <a:p>
            <a:r>
              <a:rPr lang="zh-CN" altLang="en-US" dirty="0"/>
              <a:t>吴敬梓</a:t>
            </a:r>
            <a:r>
              <a:rPr lang="en-US" altLang="zh-CN" dirty="0"/>
              <a:t>. (</a:t>
            </a:r>
            <a:r>
              <a:rPr lang="en-GB" altLang="zh-CN" dirty="0"/>
              <a:t>n.d.). </a:t>
            </a:r>
            <a:r>
              <a:rPr lang="zh-CN" altLang="en-US" i="1" dirty="0"/>
              <a:t>儒林外史</a:t>
            </a:r>
            <a:r>
              <a:rPr lang="en-US" altLang="zh-CN" dirty="0"/>
              <a:t>. </a:t>
            </a:r>
            <a:r>
              <a:rPr lang="en-GB" altLang="zh-CN" dirty="0"/>
              <a:t>Chinese Text Project. Retrieved October 16, 2025, from </a:t>
            </a:r>
            <a:r>
              <a:rPr lang="en-GB" altLang="zh-CN" dirty="0">
                <a:hlinkClick r:id="rId3"/>
              </a:rPr>
              <a:t>https://ctext.org/xiyouji/zhs</a:t>
            </a:r>
            <a:endParaRPr lang="en-GB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0831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393</Words>
  <Application>Microsoft Office PowerPoint</Application>
  <PresentationFormat>宽屏</PresentationFormat>
  <Paragraphs>50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Introduction</vt:lpstr>
      <vt:lpstr>Introduction</vt:lpstr>
      <vt:lpstr>Methodology</vt:lpstr>
      <vt:lpstr>Methodology</vt:lpstr>
      <vt:lpstr>Methodology</vt:lpstr>
      <vt:lpstr>Methodolgy</vt:lpstr>
      <vt:lpstr>Results</vt:lpstr>
      <vt:lpstr>Results</vt:lpstr>
      <vt:lpstr>Reflection </vt:lpstr>
      <vt:lpstr>Reflection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锐涛 胡</dc:creator>
  <cp:lastModifiedBy>锐涛 胡</cp:lastModifiedBy>
  <cp:revision>2</cp:revision>
  <dcterms:created xsi:type="dcterms:W3CDTF">2025-11-07T08:58:41Z</dcterms:created>
  <dcterms:modified xsi:type="dcterms:W3CDTF">2025-11-07T11:49:23Z</dcterms:modified>
</cp:coreProperties>
</file>